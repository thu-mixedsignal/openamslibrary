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f406e6be043b4" /><Relationship Type="http://schemas.openxmlformats.org/officeDocument/2006/relationships/extended-properties" Target="/docProps/app.xml" Id="R7ca8d20ca70c486e" /><Relationship Type="http://schemas.openxmlformats.org/officeDocument/2006/relationships/officeDocument" Target="/ppt/presentation.xml" Id="Rc08581f72247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22e4e21044de2"/>
  </p:sldMasterIdLst>
  <p:notesMasterIdLst>
    <p:notesMasterId xmlns:r="http://schemas.openxmlformats.org/officeDocument/2006/relationships" r:id="R73403a9ca28e4390"/>
  </p:notesMasterIdLst>
  <p:sldIdLst>
    <p:sldId xmlns:r="http://schemas.openxmlformats.org/officeDocument/2006/relationships" id="256" r:id="R6ae7e89d2b734258"/>
    <p:sldId xmlns:r="http://schemas.openxmlformats.org/officeDocument/2006/relationships" id="257" r:id="R4ae87d9e0fee4853"/>
    <p:sldId xmlns:r="http://schemas.openxmlformats.org/officeDocument/2006/relationships" id="258" r:id="Red8aeed88cd646a0"/>
    <p:sldId xmlns:r="http://schemas.openxmlformats.org/officeDocument/2006/relationships" id="259" r:id="R75850714c8194356"/>
    <p:sldId xmlns:r="http://schemas.openxmlformats.org/officeDocument/2006/relationships" id="260" r:id="R8eeb9e1e6ea74c40"/>
    <p:sldId xmlns:r="http://schemas.openxmlformats.org/officeDocument/2006/relationships" id="261" r:id="R6e96ce7d55d64f08"/>
    <p:sldId xmlns:r="http://schemas.openxmlformats.org/officeDocument/2006/relationships" id="262" r:id="Rd3a7a3422ae44fec"/>
    <p:sldId xmlns:r="http://schemas.openxmlformats.org/officeDocument/2006/relationships" id="263" r:id="Rd37182b6b3ec4ab7"/>
    <p:sldId xmlns:r="http://schemas.openxmlformats.org/officeDocument/2006/relationships" id="264" r:id="Rad208babbaea42e1"/>
    <p:sldId xmlns:r="http://schemas.openxmlformats.org/officeDocument/2006/relationships" id="265" r:id="Rdefd288bca3648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ce53fe3174664" /><Relationship Type="http://schemas.openxmlformats.org/officeDocument/2006/relationships/slideMaster" Target="/ppt/slideMasters/slideMaster1.xml" Id="R42222e4e21044de2" /><Relationship Type="http://schemas.openxmlformats.org/officeDocument/2006/relationships/notesMaster" Target="/ppt/notesMasters/notesMaster1.xml" Id="R73403a9ca28e4390" /><Relationship Type="http://schemas.openxmlformats.org/officeDocument/2006/relationships/presProps" Target="/ppt/presProps.xml" Id="R77ce363dff7c44c8" /><Relationship Type="http://schemas.openxmlformats.org/officeDocument/2006/relationships/tableStyles" Target="/ppt/tableStyles.xml" Id="R470b91d00f4043fd" /><Relationship Type="http://schemas.openxmlformats.org/officeDocument/2006/relationships/slide" Target="/ppt/slides/slide1.xml" Id="R6ae7e89d2b734258" /><Relationship Type="http://schemas.openxmlformats.org/officeDocument/2006/relationships/slide" Target="/ppt/slides/slide2.xml" Id="R4ae87d9e0fee4853" /><Relationship Type="http://schemas.openxmlformats.org/officeDocument/2006/relationships/slide" Target="/ppt/slides/slide3.xml" Id="Red8aeed88cd646a0" /><Relationship Type="http://schemas.openxmlformats.org/officeDocument/2006/relationships/slide" Target="/ppt/slides/slide4.xml" Id="R75850714c8194356" /><Relationship Type="http://schemas.openxmlformats.org/officeDocument/2006/relationships/slide" Target="/ppt/slides/slide5.xml" Id="R8eeb9e1e6ea74c40" /><Relationship Type="http://schemas.openxmlformats.org/officeDocument/2006/relationships/slide" Target="/ppt/slides/slide6.xml" Id="R6e96ce7d55d64f08" /><Relationship Type="http://schemas.openxmlformats.org/officeDocument/2006/relationships/slide" Target="/ppt/slides/slide7.xml" Id="Rd3a7a3422ae44fec" /><Relationship Type="http://schemas.openxmlformats.org/officeDocument/2006/relationships/slide" Target="/ppt/slides/slide8.xml" Id="Rd37182b6b3ec4ab7" /><Relationship Type="http://schemas.openxmlformats.org/officeDocument/2006/relationships/slide" Target="/ppt/slides/slide9.xml" Id="Rad208babbaea42e1" /><Relationship Type="http://schemas.openxmlformats.org/officeDocument/2006/relationships/slide" Target="/ppt/slides/slide10.xml" Id="Rdefd288bca3648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6cb67c214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392881e7e48db" /><Relationship Type="http://schemas.openxmlformats.org/officeDocument/2006/relationships/notesMaster" Target="/ppt/notesMasters/notesMaster1.xml" Id="R8aa9f8cdea25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9234f86fe4b7b" /><Relationship Type="http://schemas.openxmlformats.org/officeDocument/2006/relationships/notesMaster" Target="/ppt/notesMasters/notesMaster1.xml" Id="Ref154124b94141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1ce5fe793e4c6d" /><Relationship Type="http://schemas.openxmlformats.org/officeDocument/2006/relationships/notesMaster" Target="/ppt/notesMasters/notesMaster1.xml" Id="Rf019b3837157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43411776ab40a0" /><Relationship Type="http://schemas.openxmlformats.org/officeDocument/2006/relationships/notesMaster" Target="/ppt/notesMasters/notesMaster1.xml" Id="R997b2d44055e4a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73f448b0a24729" /><Relationship Type="http://schemas.openxmlformats.org/officeDocument/2006/relationships/notesMaster" Target="/ppt/notesMasters/notesMaster1.xml" Id="R8b96d73899ec43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278da3a41649d8" /><Relationship Type="http://schemas.openxmlformats.org/officeDocument/2006/relationships/notesMaster" Target="/ppt/notesMasters/notesMaster1.xml" Id="R830e9b342fb84e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31a06d106424a" /><Relationship Type="http://schemas.openxmlformats.org/officeDocument/2006/relationships/notesMaster" Target="/ppt/notesMasters/notesMaster1.xml" Id="R81773da5adbd41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3cbb17a1874205" /><Relationship Type="http://schemas.openxmlformats.org/officeDocument/2006/relationships/notesMaster" Target="/ppt/notesMasters/notesMaster1.xml" Id="R122ceca8a5a948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febd35d6dd472b" /><Relationship Type="http://schemas.openxmlformats.org/officeDocument/2006/relationships/notesMaster" Target="/ppt/notesMasters/notesMaster1.xml" Id="R63d9840e1f414f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571dc2b7244040" /><Relationship Type="http://schemas.openxmlformats.org/officeDocument/2006/relationships/notesMaster" Target="/ppt/notesMasters/notesMaster1.xml" Id="R6a4569807f11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dfd0e9153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8a11d5f14407a" /><Relationship Type="http://schemas.openxmlformats.org/officeDocument/2006/relationships/slideLayout" Target="/ppt/slideLayouts/slideLayout1.xml" Id="R44be88bd4aed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e88bd4aed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9c2ffec364c65" /><Relationship Type="http://schemas.openxmlformats.org/officeDocument/2006/relationships/image" Target="/ppt/media/image.png" Id="Rdf0ffaf0b2714a85" /><Relationship Type="http://schemas.openxmlformats.org/officeDocument/2006/relationships/notesSlide" Target="/ppt/notesSlides/notesSlide1.xml" Id="R4ce660e0f0a0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d99eb39424f3e" /><Relationship Type="http://schemas.openxmlformats.org/officeDocument/2006/relationships/image" Target="/ppt/media/image2.png" Id="Rbab0dffbee7f44a5" /><Relationship Type="http://schemas.openxmlformats.org/officeDocument/2006/relationships/notesSlide" Target="/ppt/notesSlides/notesSlide2.xml" Id="Rca8e653835fa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0d405ecf548cf" /><Relationship Type="http://schemas.openxmlformats.org/officeDocument/2006/relationships/notesSlide" Target="/ppt/notesSlides/notesSlide3.xml" Id="Rc6efd9195d0b40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ccdac34904196" /><Relationship Type="http://schemas.openxmlformats.org/officeDocument/2006/relationships/notesSlide" Target="/ppt/notesSlides/notesSlide4.xml" Id="R8f786a815c55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0f15a382b42ae" /><Relationship Type="http://schemas.openxmlformats.org/officeDocument/2006/relationships/chart" Target="/ppt/slides/charts/chart1.xml" Id="R943495434b814231" /><Relationship Type="http://schemas.openxmlformats.org/officeDocument/2006/relationships/notesSlide" Target="/ppt/notesSlides/notesSlide5.xml" Id="Rcc121d52be614d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4fa083e5a45a1" /><Relationship Type="http://schemas.openxmlformats.org/officeDocument/2006/relationships/notesSlide" Target="/ppt/notesSlides/notesSlide6.xml" Id="R16d54e19a2c342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f7f18160049c5" /><Relationship Type="http://schemas.openxmlformats.org/officeDocument/2006/relationships/notesSlide" Target="/ppt/notesSlides/notesSlide7.xml" Id="R199ed569c2b044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12724606e40b1" /><Relationship Type="http://schemas.openxmlformats.org/officeDocument/2006/relationships/image" Target="/ppt/media/image3.png" Id="R461621481f9b459a" /><Relationship Type="http://schemas.openxmlformats.org/officeDocument/2006/relationships/notesSlide" Target="/ppt/notesSlides/notesSlide8.xml" Id="R7ff543555718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2353d82c2440b" /><Relationship Type="http://schemas.openxmlformats.org/officeDocument/2006/relationships/notesSlide" Target="/ppt/notesSlides/notesSlide9.xml" Id="Rb65204b9899b4a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83b9deb924696" /><Relationship Type="http://schemas.openxmlformats.org/officeDocument/2006/relationships/notesSlide" Target="/ppt/notesSlides/notesSlide10.xml" Id="Reb0ce436ef19406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Phase margin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DM</c:v>
              </c:pt>
              <c:pt idx="1">
                <c:v>CMFB1</c:v>
              </c:pt>
              <c:pt idx="2">
                <c:v>CMFB2</c:v>
              </c:pt>
              <c:pt idx="3">
                <c:v>Boost</c:v>
              </c:pt>
              <c:pt idx="4">
                <c:v>+Swing</c:v>
              </c:pt>
              <c:pt idx="5">
                <c:v>−Swing</c:v>
              </c:pt>
            </c:strLit>
          </c:cat>
          <c:val>
            <c:numLit>
              <c:formatCode>General</c:formatCode>
              <c:ptCount val="6"/>
              <c:pt idx="0">
                <c:v>77.169</c:v>
              </c:pt>
              <c:pt idx="1">
                <c:v>69.083</c:v>
              </c:pt>
              <c:pt idx="2">
                <c:v>77.07</c:v>
              </c:pt>
              <c:pt idx="3">
                <c:v>63.402</c:v>
              </c:pt>
              <c:pt idx="4">
                <c:v>82.484</c:v>
              </c:pt>
              <c:pt idx="5">
                <c:v>82.484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7FA8D65-04FB-4133-A64A-C35739F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1000"/>
            <a:ext cx="552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OPEN AMS LIBRARY · CIRCUIT 001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1CDC4B7-BCCD-4B9E-BC71-59C727F4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5334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Fully Differential
MDAC OTA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F0BD095-1ECA-421B-9920-2D6FCCC8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29050"/>
            <a:ext cx="5334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verification · TSMC 28 nm · 0.9 V
Compact and full-geometry Spectre netlists</a:t>
            </a:r>
          </a:p>
        </p:txBody>
      </p:sp>
      <p:sp>
        <p:nvSpPr>
          <p:cNvPr id="4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C8DD624D-2017-4F5E-9474-3D3FB315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F016B08C-AAEA-4979-A1F1-7B7D6FF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t>July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ffaf0b2714a85"/>
          <a:stretch xmlns:a="http://schemas.openxmlformats.org/drawingml/2006/main"/>
        </p:blipFill>
        <p:spPr>
          <a:xfrm xmlns:a="http://schemas.openxmlformats.org/drawingml/2006/main">
            <a:off x="6429375" y="1077464"/>
            <a:ext cx="5219700" cy="42268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0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B33BF80A-0EB1-40A8-B145-BE8DC37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2502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topology targets gain, low-voltage headroom, and fast MDAC recovery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9EF5712-8351-4CD4-93C8-D830ED43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3" name="arch-image-backing">
            <a:extLst xmlns:a="http://schemas.openxmlformats.org/drawingml/2006/main">
              <a:ext uri="{FF2B5EF4-FFF2-40B4-BE49-F238E27FC236}">
                <a16:creationId xmlns:a16="http://schemas.microsoft.com/office/drawing/2014/main" id="{36108726-66CA-4AEC-B773-6CA837AA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6572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arch-heading">
            <a:extLst xmlns:a="http://schemas.openxmlformats.org/drawingml/2006/main">
              <a:ext uri="{FF2B5EF4-FFF2-40B4-BE49-F238E27FC236}">
                <a16:creationId xmlns:a16="http://schemas.microsoft.com/office/drawing/2014/main" id="{366880E1-701F-4DD0-BF14-57E0C7E6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4191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Two-stage fully differential OTA</a:t>
            </a:r>
          </a:p>
        </p:txBody>
      </p:sp>
      <p:sp>
        <p:nvSpPr>
          <p:cNvPr id="5" name="arch-body">
            <a:extLst xmlns:a="http://schemas.openxmlformats.org/drawingml/2006/main">
              <a:ext uri="{FF2B5EF4-FFF2-40B4-BE49-F238E27FC236}">
                <a16:creationId xmlns:a16="http://schemas.microsoft.com/office/drawing/2014/main" id="{CFDBC890-00C7-430E-9C9F-71168FC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4191000" cy="290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NMOS-input folded-cascode first stage
• PMOS-cascode local gain boosting
• NMOS common-source second stage
• Independent CMFB1 and CMFB2 loops
• 0.95 pF Miller compensation per side
• One 20 µA external bias reference</a:t>
            </a:r>
          </a:p>
        </p:txBody>
      </p:sp>
      <p:sp>
        <p:nvSpPr>
          <p:cNvPr id="6" name="arch-callout">
            <a:extLst xmlns:a="http://schemas.openxmlformats.org/drawingml/2006/main">
              <a:ext uri="{FF2B5EF4-FFF2-40B4-BE49-F238E27FC236}">
                <a16:creationId xmlns:a16="http://schemas.microsoft.com/office/drawing/2014/main" id="{F8000F91-20D8-4930-BDC4-5AB419A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191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67 MOS devices in the released schematic core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0dffbee7f44a5"/>
          <a:stretch xmlns:a="http://schemas.openxmlformats.org/drawingml/2006/main"/>
        </p:blipFill>
        <p:spPr>
          <a:xfrm xmlns:a="http://schemas.openxmlformats.org/drawingml/2006/main">
            <a:off x="941888" y="1428750"/>
            <a:ext cx="5469523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70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B6F3FB7B-7C2C-4D4B-8740-E8EF3977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geometry clears nominal gain, speed, and settling targets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52B2FD8-9FC2-4068-9E84-5262A897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" name="headline-context">
            <a:extLst xmlns:a="http://schemas.openxmlformats.org/drawingml/2006/main">
              <a:ext uri="{FF2B5EF4-FFF2-40B4-BE49-F238E27FC236}">
                <a16:creationId xmlns:a16="http://schemas.microsoft.com/office/drawing/2014/main" id="{E3E8E70C-C51F-45B3-89D4-70C5824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43000"/>
            <a:ext cx="114014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TT · 27 °C · VDD = 0.9 V · Spectre X CX</a:t>
            </a:r>
          </a:p>
        </p:txBody>
      </p:sp>
      <p:sp>
        <p:nvSpPr>
          <p:cNvPr id="4" name="headline-secondary">
            <a:extLst xmlns:a="http://schemas.openxmlformats.org/drawingml/2006/main">
              <a:ext uri="{FF2B5EF4-FFF2-40B4-BE49-F238E27FC236}">
                <a16:creationId xmlns:a16="http://schemas.microsoft.com/office/drawing/2014/main" id="{5329AD95-05B2-4A7D-B38C-9AA02701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114014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Also verified: 77.17° differential PM · 455.9 µVrms output noise · 6.456 mW</a:t>
            </a:r>
          </a:p>
        </p:txBody>
      </p:sp>
      <p:sp>
        <p:nvSpPr>
          <p:cNvPr id="5" name="headline-card-0">
            <a:extLst xmlns:a="http://schemas.openxmlformats.org/drawingml/2006/main">
              <a:ext uri="{FF2B5EF4-FFF2-40B4-BE49-F238E27FC236}">
                <a16:creationId xmlns:a16="http://schemas.microsoft.com/office/drawing/2014/main" id="{08287873-EA20-4422-8BF9-C6CFADB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6" name="headline-stat-0">
            <a:extLst xmlns:a="http://schemas.openxmlformats.org/drawingml/2006/main">
              <a:ext uri="{FF2B5EF4-FFF2-40B4-BE49-F238E27FC236}">
                <a16:creationId xmlns:a16="http://schemas.microsoft.com/office/drawing/2014/main" id="{9B62A4D1-60B7-4421-B080-3B9C83E3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7185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99.48 dB</a:t>
            </a:r>
          </a:p>
        </p:txBody>
      </p:sp>
      <p:sp>
        <p:nvSpPr>
          <p:cNvPr id="7" name="headline-label-0">
            <a:extLst xmlns:a="http://schemas.openxmlformats.org/drawingml/2006/main">
              <a:ext uri="{FF2B5EF4-FFF2-40B4-BE49-F238E27FC236}">
                <a16:creationId xmlns:a16="http://schemas.microsoft.com/office/drawing/2014/main" id="{9A95E650-795F-4130-A447-ECBE4B6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524375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Open-loop DC gain</a:t>
            </a:r>
          </a:p>
        </p:txBody>
      </p:sp>
      <p:sp>
        <p:nvSpPr>
          <p:cNvPr id="8" name="headline-note-0">
            <a:extLst xmlns:a="http://schemas.openxmlformats.org/drawingml/2006/main">
              <a:ext uri="{FF2B5EF4-FFF2-40B4-BE49-F238E27FC236}">
                <a16:creationId xmlns:a16="http://schemas.microsoft.com/office/drawing/2014/main" id="{9C1A5E8B-1891-4195-A717-CC9AA69C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5219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26.50 kHz dominant pole</a:t>
            </a:r>
          </a:p>
        </p:txBody>
      </p:sp>
      <p:sp>
        <p:nvSpPr>
          <p:cNvPr id="9" name="headline-card-1">
            <a:extLst xmlns:a="http://schemas.openxmlformats.org/drawingml/2006/main">
              <a:ext uri="{FF2B5EF4-FFF2-40B4-BE49-F238E27FC236}">
                <a16:creationId xmlns:a16="http://schemas.microsoft.com/office/drawing/2014/main" id="{A487B9DA-3419-492F-AE0D-DCEF7DC2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10" name="headline-stat-1">
            <a:extLst xmlns:a="http://schemas.openxmlformats.org/drawingml/2006/main">
              <a:ext uri="{FF2B5EF4-FFF2-40B4-BE49-F238E27FC236}">
                <a16:creationId xmlns:a16="http://schemas.microsoft.com/office/drawing/2014/main" id="{962BF480-091B-4887-8316-562EABF0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7185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2.093 GHz</a:t>
            </a:r>
          </a:p>
        </p:txBody>
      </p:sp>
      <p:sp>
        <p:nvSpPr>
          <p:cNvPr id="11" name="headline-label-1">
            <a:extLst xmlns:a="http://schemas.openxmlformats.org/drawingml/2006/main">
              <a:ext uri="{FF2B5EF4-FFF2-40B4-BE49-F238E27FC236}">
                <a16:creationId xmlns:a16="http://schemas.microsoft.com/office/drawing/2014/main" id="{CE366A41-5F70-4C9E-BEC1-1AE9DC71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524375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Open-loop UGBW</a:t>
            </a:r>
          </a:p>
        </p:txBody>
      </p:sp>
      <p:sp>
        <p:nvSpPr>
          <p:cNvPr id="12" name="headline-note-1">
            <a:extLst xmlns:a="http://schemas.openxmlformats.org/drawingml/2006/main">
              <a:ext uri="{FF2B5EF4-FFF2-40B4-BE49-F238E27FC236}">
                <a16:creationId xmlns:a16="http://schemas.microsoft.com/office/drawing/2014/main" id="{C19CA0D8-03B8-4D90-9852-C927A0E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5219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326.8 MHz closed-loop BW</a:t>
            </a:r>
          </a:p>
        </p:txBody>
      </p:sp>
      <p:sp>
        <p:nvSpPr>
          <p:cNvPr id="13" name="headline-card-2">
            <a:extLst xmlns:a="http://schemas.openxmlformats.org/drawingml/2006/main">
              <a:ext uri="{FF2B5EF4-FFF2-40B4-BE49-F238E27FC236}">
                <a16:creationId xmlns:a16="http://schemas.microsoft.com/office/drawing/2014/main" id="{35172D4B-56DD-4443-B144-85DE209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14" name="headline-stat-2">
            <a:extLst xmlns:a="http://schemas.openxmlformats.org/drawingml/2006/main">
              <a:ext uri="{FF2B5EF4-FFF2-40B4-BE49-F238E27FC236}">
                <a16:creationId xmlns:a16="http://schemas.microsoft.com/office/drawing/2014/main" id="{456AAAC5-FB5A-4523-95C9-773D6949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7185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0.0329%</a:t>
            </a:r>
          </a:p>
        </p:txBody>
      </p:sp>
      <p:sp>
        <p:nvSpPr>
          <p:cNvPr id="15" name="headline-label-2">
            <a:extLst xmlns:a="http://schemas.openxmlformats.org/drawingml/2006/main">
              <a:ext uri="{FF2B5EF4-FFF2-40B4-BE49-F238E27FC236}">
                <a16:creationId xmlns:a16="http://schemas.microsoft.com/office/drawing/2014/main" id="{91531305-75B9-4940-B58E-5100325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524375"/>
            <a:ext cx="295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Worst residue settling</a:t>
            </a:r>
          </a:p>
        </p:txBody>
      </p:sp>
      <p:sp>
        <p:nvSpPr>
          <p:cNvPr id="16" name="headline-note-2">
            <a:extLst xmlns:a="http://schemas.openxmlformats.org/drawingml/2006/main">
              <a:ext uri="{FF2B5EF4-FFF2-40B4-BE49-F238E27FC236}">
                <a16:creationId xmlns:a16="http://schemas.microsoft.com/office/drawing/2014/main" id="{521B8CBB-77CD-4E83-AE50-24F00AE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5219700"/>
            <a:ext cx="2952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8-cycle MDAC sequence</a:t>
            </a:r>
          </a:p>
        </p:txBody>
      </p:sp>
    </p:spTree>
    <p:extLst>
      <p:ext uri="{BB962C8B-B14F-4D97-AF65-F5344CB8AC3E}">
        <p14:creationId xmlns:p14="http://schemas.microsoft.com/office/powerpoint/2010/main" val="598455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63A0D96-9409-4175-927B-2A354102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 loop gain coexists with 326.8 MHz closed-loop bandwidth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0DF4FDA3-0E3E-4E7F-A952-17C08205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797FB65-EA0E-4F7D-891C-D9E4C87C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Full-geometry nominal result; all values measured from the released Spectre decks</a:t>
            </a:r>
          </a:p>
        </p:txBody>
      </p:sp>
      <p:graphicFrame>
        <p:nvGraphicFramePr>
          <p:cNvPr id="8" name="table-4"/>
          <p:cNvGraphicFramePr/>
          <p:nvPr/>
        </p:nvGraphicFramePr>
        <p:xfrm>
          <a:off xmlns:a="http://schemas.openxmlformats.org/drawingml/2006/main" x="393668" y="1562100"/>
          <a:ext xmlns:a="http://schemas.openxmlformats.org/drawingml/2006/main" cx="11798332" cy="529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00250"/>
                <a:gridCol w="3333750"/>
                <a:gridCol w="2000250"/>
              </a:tblGrid>
              <a:tr h="66198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Open-loop DC gain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99.480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Closed-loop gain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7.99918 V/V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Open-loop −3 dB BW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26.496 kHz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Closed-loop gain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−0.01025%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Open-loop UGBW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2.09266 GHz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Closed-loop −3 dB BW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326.843 MHz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Differential-loop UGF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264.857 MHz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Differential-loop GM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23.883 dB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Positive output swing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+449.949 mV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Negative output swing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−449.949 mV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Static core headroom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42.704 mV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Swing core headroom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41.592 mV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Output common mode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444.154 mV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Common-mode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−5.846 mV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36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0EC5981F-D4F9-4E1C-97A9-090BF7E6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monitored loop retains more than 63° phase margin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9676C2DD-105C-4F2C-8394-C5C96486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676F54C8-6A8F-4170-BB5B-3844303B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Full-geometry nominal result; design target is greater than 60°</a:t>
            </a:r>
          </a:p>
        </p:txBody>
      </p:sp>
      <p:sp>
        <p:nvSpPr>
          <p:cNvPr id="4" name="stability-card-1">
            <a:extLst xmlns:a="http://schemas.openxmlformats.org/drawingml/2006/main">
              <a:ext uri="{FF2B5EF4-FFF2-40B4-BE49-F238E27FC236}">
                <a16:creationId xmlns:a16="http://schemas.microsoft.com/office/drawing/2014/main" id="{C75E0CE3-264D-45D1-A592-741AAB9E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5" name="stability-stat-1">
            <a:extLst xmlns:a="http://schemas.openxmlformats.org/drawingml/2006/main">
              <a:ext uri="{FF2B5EF4-FFF2-40B4-BE49-F238E27FC236}">
                <a16:creationId xmlns:a16="http://schemas.microsoft.com/office/drawing/2014/main" id="{355CCC26-9CDE-4BBD-B319-40C56E0E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63.40° minimum</a:t>
            </a:r>
          </a:p>
        </p:txBody>
      </p:sp>
      <p:sp>
        <p:nvSpPr>
          <p:cNvPr id="6" name="stability-note-1">
            <a:extLst xmlns:a="http://schemas.openxmlformats.org/drawingml/2006/main">
              <a:ext uri="{FF2B5EF4-FFF2-40B4-BE49-F238E27FC236}">
                <a16:creationId xmlns:a16="http://schemas.microsoft.com/office/drawing/2014/main" id="{DB89F441-3739-49F3-B878-E184A209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Gain-boost loop is the limiting loop</a:t>
            </a:r>
          </a:p>
        </p:txBody>
      </p:sp>
      <p:sp>
        <p:nvSpPr>
          <p:cNvPr id="7" name="stability-card-2">
            <a:extLst xmlns:a="http://schemas.openxmlformats.org/drawingml/2006/main">
              <a:ext uri="{FF2B5EF4-FFF2-40B4-BE49-F238E27FC236}">
                <a16:creationId xmlns:a16="http://schemas.microsoft.com/office/drawing/2014/main" id="{B0F400E1-0F7E-4961-8C71-14F8212F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8" name="stability-stat-2">
            <a:extLst xmlns:a="http://schemas.openxmlformats.org/drawingml/2006/main">
              <a:ext uri="{FF2B5EF4-FFF2-40B4-BE49-F238E27FC236}">
                <a16:creationId xmlns:a16="http://schemas.microsoft.com/office/drawing/2014/main" id="{575546BB-5DE8-450E-9D70-E2BCC0C8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099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23.88 dB DM gain margin</a:t>
            </a:r>
          </a:p>
        </p:txBody>
      </p:sp>
      <p:sp>
        <p:nvSpPr>
          <p:cNvPr id="9" name="stability-note-2">
            <a:extLst xmlns:a="http://schemas.openxmlformats.org/drawingml/2006/main">
              <a:ext uri="{FF2B5EF4-FFF2-40B4-BE49-F238E27FC236}">
                <a16:creationId xmlns:a16="http://schemas.microsoft.com/office/drawing/2014/main" id="{6F20B26E-B151-49C1-9A99-6F29C69F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71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Nominal differential-loop robustness</a:t>
            </a:r>
          </a:p>
        </p:txBody>
      </p:sp>
      <p:sp>
        <p:nvSpPr>
          <p:cNvPr id="10" name="stability-card-3">
            <a:extLst xmlns:a="http://schemas.openxmlformats.org/drawingml/2006/main">
              <a:ext uri="{FF2B5EF4-FFF2-40B4-BE49-F238E27FC236}">
                <a16:creationId xmlns:a16="http://schemas.microsoft.com/office/drawing/2014/main" id="{CA5F7D65-BD77-41AF-A693-8FF8A496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286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11" name="stability-stat-3">
            <a:extLst xmlns:a="http://schemas.openxmlformats.org/drawingml/2006/main">
              <a:ext uri="{FF2B5EF4-FFF2-40B4-BE49-F238E27FC236}">
                <a16:creationId xmlns:a16="http://schemas.microsoft.com/office/drawing/2014/main" id="{2D96F278-3B8D-47C8-A985-74A2A9A0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33950"/>
            <a:ext cx="371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82.48° at ±450 mV</a:t>
            </a:r>
          </a:p>
        </p:txBody>
      </p:sp>
      <p:sp>
        <p:nvSpPr>
          <p:cNvPr id="12" name="stability-note-3">
            <a:extLst xmlns:a="http://schemas.openxmlformats.org/drawingml/2006/main">
              <a:ext uri="{FF2B5EF4-FFF2-40B4-BE49-F238E27FC236}">
                <a16:creationId xmlns:a16="http://schemas.microsoft.com/office/drawing/2014/main" id="{9463BDE9-9955-4BD1-85EF-ABED96CB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71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Swing-point stability improves over nominal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61912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3495434b814231"/>
          </a:graphicData>
        </a:graphic>
      </p:graphicFrame>
    </p:spTree>
    <p:extLst>
      <p:ext uri="{BB962C8B-B14F-4D97-AF65-F5344CB8AC3E}">
        <p14:creationId xmlns:p14="http://schemas.microsoft.com/office/powerpoint/2010/main" val="215950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130AD46-542E-4D32-9AE9-CF86B38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9212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Noise, large-signal recovery, and energy metrics complete the nominal picture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CEAC0F73-E9C1-44F1-B614-89E8534B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E5B6E227-5463-45D4-A460-A7550B47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These metrics are often hidden by a gain/UGBW-only summary</a:t>
            </a:r>
          </a:p>
        </p:txBody>
      </p:sp>
      <p:graphicFrame>
        <p:nvGraphicFramePr>
          <p:cNvPr id="8" name="table-6"/>
          <p:cNvGraphicFramePr/>
          <p:nvPr/>
        </p:nvGraphicFramePr>
        <p:xfrm>
          <a:off xmlns:a="http://schemas.openxmlformats.org/drawingml/2006/main" x="393668" y="1562100"/>
          <a:ext xmlns:a="http://schemas.openxmlformats.org/drawingml/2006/main" cx="11798332" cy="529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000250"/>
                <a:gridCol w="3333750"/>
                <a:gridCol w="2000250"/>
              </a:tblGrid>
              <a:tr h="66198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Integrated output noise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455.943 µVrms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ADC-input noise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56.993 µVrms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10 MHz noise density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23.365 nV/√Hz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Worst settling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0.032921%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Final transient CM error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−5.820 mV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Single-DUT current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7.173 mA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Single-DUT power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6.456 mW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Energy / conversion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64.560 pJ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14-bit normalized energy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3.940 fJ/step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Bias 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 µA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Nominal sample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 MS/s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Amplification window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5.0 ns</a:t>
                      </a:r>
                    </a:p>
                  </a:txBody>
                  <a:tcPr marL="91440" marR="91440" marT="45720" marB="45720"/>
                </a:tc>
              </a:tr>
              <a:tr h="661988">
                <a:tc>
                  <a:txBody>
                    <a:bodyPr/>
                    <a:lstStyle/>
                    <a:p>
                      <a:r>
                        <a:t>Residue gain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 V/V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Load per 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860 fF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0773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64BD3CDA-3AC9-48B8-A502-8980E03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CDF geometry changes speed and current by about 11%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759B79D6-BA99-46F1-A1EE-F8044426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3" name="compare-context">
            <a:extLst xmlns:a="http://schemas.openxmlformats.org/drawingml/2006/main">
              <a:ext uri="{FF2B5EF4-FFF2-40B4-BE49-F238E27FC236}">
                <a16:creationId xmlns:a16="http://schemas.microsoft.com/office/drawing/2014/main" id="{9AE27171-0067-484C-BEE1-FACDD7F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40142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two netlists share topology, W/L, and testbench. The delta comes from diffusion, resistance-geometry, spacing, stress, and proximity fields.</a:t>
            </a:r>
          </a:p>
        </p:txBody>
      </p:sp>
      <p:sp>
        <p:nvSpPr>
          <p:cNvPr id="4" name="compact-panel">
            <a:extLst xmlns:a="http://schemas.openxmlformats.org/drawingml/2006/main">
              <a:ext uri="{FF2B5EF4-FFF2-40B4-BE49-F238E27FC236}">
                <a16:creationId xmlns:a16="http://schemas.microsoft.com/office/drawing/2014/main" id="{3AF7AFCC-191C-47B1-A36A-49B2F618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34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DEDED"/>
          </a:solidFill>
        </p:spPr>
      </p:sp>
      <p:sp>
        <p:nvSpPr>
          <p:cNvPr id="5" name="compact-title">
            <a:extLst xmlns:a="http://schemas.openxmlformats.org/drawingml/2006/main">
              <a:ext uri="{FF2B5EF4-FFF2-40B4-BE49-F238E27FC236}">
                <a16:creationId xmlns:a16="http://schemas.microsoft.com/office/drawing/2014/main" id="{86A2931D-C745-47DE-9168-C166AF99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Compact W/L/nf</a:t>
            </a:r>
          </a:p>
        </p:txBody>
      </p:sp>
      <p:sp>
        <p:nvSpPr>
          <p:cNvPr id="6" name="compact-values">
            <a:extLst xmlns:a="http://schemas.openxmlformats.org/drawingml/2006/main">
              <a:ext uri="{FF2B5EF4-FFF2-40B4-BE49-F238E27FC236}">
                <a16:creationId xmlns:a16="http://schemas.microsoft.com/office/drawing/2014/main" id="{20CDCA74-BA8B-4201-9EAE-5C45EC29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476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99.264 dB gain
1.879 GHz UGBW
75.07° DM phase margin
0.0275% settling error
5.790 mW</a:t>
            </a:r>
          </a:p>
        </p:txBody>
      </p:sp>
      <p:sp>
        <p:nvSpPr>
          <p:cNvPr id="7" name="full-panel">
            <a:extLst xmlns:a="http://schemas.openxmlformats.org/drawingml/2006/main">
              <a:ext uri="{FF2B5EF4-FFF2-40B4-BE49-F238E27FC236}">
                <a16:creationId xmlns:a16="http://schemas.microsoft.com/office/drawing/2014/main" id="{114C5486-5263-4844-A379-C3576EDB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56959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full-title">
            <a:extLst xmlns:a="http://schemas.openxmlformats.org/drawingml/2006/main">
              <a:ext uri="{FF2B5EF4-FFF2-40B4-BE49-F238E27FC236}">
                <a16:creationId xmlns:a16="http://schemas.microsoft.com/office/drawing/2014/main" id="{FC051033-D669-4361-B32C-F9628F5D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048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Full CDF geometry · release reference</a:t>
            </a:r>
          </a:p>
        </p:txBody>
      </p:sp>
      <p:sp>
        <p:nvSpPr>
          <p:cNvPr id="9" name="full-values">
            <a:extLst xmlns:a="http://schemas.openxmlformats.org/drawingml/2006/main">
              <a:ext uri="{FF2B5EF4-FFF2-40B4-BE49-F238E27FC236}">
                <a16:creationId xmlns:a16="http://schemas.microsoft.com/office/drawing/2014/main" id="{9BF97F15-9F93-4C2B-A0A8-D9A9F39E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857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99.480 dB gain
2.093 GHz UGBW  (+11.3%)
77.17° DM phase margin
0.0329% settling error
6.456 mW  (+11.5%)</a:t>
            </a:r>
          </a:p>
        </p:txBody>
      </p:sp>
      <p:sp>
        <p:nvSpPr>
          <p:cNvPr id="10" name="compare-footer">
            <a:extLst xmlns:a="http://schemas.openxmlformats.org/drawingml/2006/main">
              <a:ext uri="{FF2B5EF4-FFF2-40B4-BE49-F238E27FC236}">
                <a16:creationId xmlns:a16="http://schemas.microsoft.com/office/drawing/2014/main" id="{0FF2E19C-8B39-4D0E-B80D-727E385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4014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full-geometry result exactly replays the Maestro-generated netlist.</a:t>
            </a:r>
          </a:p>
        </p:txBody>
      </p:sp>
    </p:spTree>
    <p:extLst>
      <p:ext uri="{BB962C8B-B14F-4D97-AF65-F5344CB8AC3E}">
        <p14:creationId xmlns:p14="http://schemas.microsoft.com/office/powerpoint/2010/main" val="1941856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C1559A80-C481-4D13-9718-BECA2026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compact-netlist PVT audit passed 45/45 corners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21106C02-9321-40E3-8BD1-49CD2313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D08AEF25-E40F-4C51-96C3-4D01C295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PVT evidence has not yet been rerun with the full-geometry netlist</a:t>
            </a:r>
          </a:p>
        </p:txBody>
      </p:sp>
      <p:sp>
        <p:nvSpPr>
          <p:cNvPr id="4" name="pvt-image-backing">
            <a:extLst xmlns:a="http://schemas.openxmlformats.org/drawingml/2006/main">
              <a:ext uri="{FF2B5EF4-FFF2-40B4-BE49-F238E27FC236}">
                <a16:creationId xmlns:a16="http://schemas.microsoft.com/office/drawing/2014/main" id="{D83148AC-86FF-45C0-8984-2A21113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76375"/>
            <a:ext cx="7524750" cy="4714875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pvt-gain">
            <a:extLst xmlns:a="http://schemas.openxmlformats.org/drawingml/2006/main">
              <a:ext uri="{FF2B5EF4-FFF2-40B4-BE49-F238E27FC236}">
                <a16:creationId xmlns:a16="http://schemas.microsoft.com/office/drawing/2014/main" id="{55D24E2F-5AC2-49A7-A69B-A28B4938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85.0–106.7 dB</a:t>
            </a:r>
          </a:p>
        </p:txBody>
      </p:sp>
      <p:sp>
        <p:nvSpPr>
          <p:cNvPr id="6" name="pvt-gain-label">
            <a:extLst xmlns:a="http://schemas.openxmlformats.org/drawingml/2006/main">
              <a:ext uri="{FF2B5EF4-FFF2-40B4-BE49-F238E27FC236}">
                <a16:creationId xmlns:a16="http://schemas.microsoft.com/office/drawing/2014/main" id="{B05D799D-98E7-42D8-8B19-DC07DE1F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143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Open-loop gain</a:t>
            </a:r>
          </a:p>
        </p:txBody>
      </p:sp>
      <p:sp>
        <p:nvSpPr>
          <p:cNvPr id="7" name="pvt-pm">
            <a:extLst xmlns:a="http://schemas.openxmlformats.org/drawingml/2006/main">
              <a:ext uri="{FF2B5EF4-FFF2-40B4-BE49-F238E27FC236}">
                <a16:creationId xmlns:a16="http://schemas.microsoft.com/office/drawing/2014/main" id="{63AA1244-C15B-4CC0-8619-4501F4A3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62.4°</a:t>
            </a:r>
          </a:p>
        </p:txBody>
      </p:sp>
      <p:sp>
        <p:nvSpPr>
          <p:cNvPr id="8" name="pvt-pm-label">
            <a:extLst xmlns:a="http://schemas.openxmlformats.org/drawingml/2006/main">
              <a:ext uri="{FF2B5EF4-FFF2-40B4-BE49-F238E27FC236}">
                <a16:creationId xmlns:a16="http://schemas.microsoft.com/office/drawing/2014/main" id="{AA9F1791-73E5-4CEA-AA99-BDAC0F06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143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Minimum phase margin</a:t>
            </a:r>
          </a:p>
        </p:txBody>
      </p:sp>
      <p:sp>
        <p:nvSpPr>
          <p:cNvPr id="9" name="pvt-settle">
            <a:extLst xmlns:a="http://schemas.openxmlformats.org/drawingml/2006/main">
              <a:ext uri="{FF2B5EF4-FFF2-40B4-BE49-F238E27FC236}">
                <a16:creationId xmlns:a16="http://schemas.microsoft.com/office/drawing/2014/main" id="{02EE5F3E-3D1A-4526-A20C-9B99F438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0.075%</a:t>
            </a:r>
          </a:p>
        </p:txBody>
      </p:sp>
      <p:sp>
        <p:nvSpPr>
          <p:cNvPr id="10" name="pvt-settle-label">
            <a:extLst xmlns:a="http://schemas.openxmlformats.org/drawingml/2006/main">
              <a:ext uri="{FF2B5EF4-FFF2-40B4-BE49-F238E27FC236}">
                <a16:creationId xmlns:a16="http://schemas.microsoft.com/office/drawing/2014/main" id="{AF3DC903-19B1-4D18-8840-98D160CC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143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Worst settling error</a:t>
            </a:r>
          </a:p>
        </p:txBody>
      </p:sp>
      <p:sp>
        <p:nvSpPr>
          <p:cNvPr id="11" name="pvt-noise">
            <a:extLst xmlns:a="http://schemas.openxmlformats.org/drawingml/2006/main">
              <a:ext uri="{FF2B5EF4-FFF2-40B4-BE49-F238E27FC236}">
                <a16:creationId xmlns:a16="http://schemas.microsoft.com/office/drawing/2014/main" id="{FCD5E5F7-7697-4763-B08C-A7557023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50.7–58.6 µV</a:t>
            </a:r>
          </a:p>
        </p:txBody>
      </p:sp>
      <p:sp>
        <p:nvSpPr>
          <p:cNvPr id="12" name="pvt-noise-label">
            <a:extLst xmlns:a="http://schemas.openxmlformats.org/drawingml/2006/main">
              <a:ext uri="{FF2B5EF4-FFF2-40B4-BE49-F238E27FC236}">
                <a16:creationId xmlns:a16="http://schemas.microsoft.com/office/drawing/2014/main" id="{46813519-A125-4CF9-BC61-4A1ED756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29250"/>
            <a:ext cx="3143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ADC-input noise at ≤27 °C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621481f9b459a"/>
          <a:stretch xmlns:a="http://schemas.openxmlformats.org/drawingml/2006/main"/>
        </p:blipFill>
        <p:spPr>
          <a:xfrm xmlns:a="http://schemas.openxmlformats.org/drawingml/2006/main">
            <a:off x="1171315" y="1638300"/>
            <a:ext cx="5963170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4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9FAE095C-2671-4476-AC40-58F2025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GitHub package separates DUT fidelity from shared verification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43175DC7-149F-40C9-82F5-949E83B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3" name="release-col1-title">
            <a:extLst xmlns:a="http://schemas.openxmlformats.org/drawingml/2006/main">
              <a:ext uri="{FF2B5EF4-FFF2-40B4-BE49-F238E27FC236}">
                <a16:creationId xmlns:a16="http://schemas.microsoft.com/office/drawing/2014/main" id="{4E3E91C2-23F2-4416-AF66-0FA95142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Two interchangeable DUTs</a:t>
            </a:r>
          </a:p>
        </p:txBody>
      </p:sp>
      <p:sp>
        <p:nvSpPr>
          <p:cNvPr id="4" name="release-col1-body">
            <a:extLst xmlns:a="http://schemas.openxmlformats.org/drawingml/2006/main">
              <a:ext uri="{FF2B5EF4-FFF2-40B4-BE49-F238E27FC236}">
                <a16:creationId xmlns:a16="http://schemas.microsoft.com/office/drawing/2014/main" id="{3426E393-4872-4769-8DE2-963A4DDA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333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ota_core.scs
ota_core_full_geometry.scs
Same ota_core port order; include one per run.</a:t>
            </a:r>
          </a:p>
        </p:txBody>
      </p:sp>
      <p:sp>
        <p:nvSpPr>
          <p:cNvPr id="5" name="release-col2-title">
            <a:extLst xmlns:a="http://schemas.openxmlformats.org/drawingml/2006/main">
              <a:ext uri="{FF2B5EF4-FFF2-40B4-BE49-F238E27FC236}">
                <a16:creationId xmlns:a16="http://schemas.microsoft.com/office/drawing/2014/main" id="{AFC748DF-4B5D-4853-AF17-7563DC5E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shared testbench</a:t>
            </a:r>
          </a:p>
        </p:txBody>
      </p:sp>
      <p:sp>
        <p:nvSpPr>
          <p:cNvPr id="6" name="release-col2-body">
            <a:extLst xmlns:a="http://schemas.openxmlformats.org/drawingml/2006/main">
              <a:ext uri="{FF2B5EF4-FFF2-40B4-BE49-F238E27FC236}">
                <a16:creationId xmlns:a16="http://schemas.microsoft.com/office/drawing/2014/main" id="{E6403048-604B-47F9-B3D5-FDE9FC2B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38375"/>
            <a:ext cx="3333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tb_ac.scs
tb_tran.scs
AC, DC, STB, noise, and eight-cycle residue transient.</a:t>
            </a:r>
          </a:p>
        </p:txBody>
      </p:sp>
      <p:sp>
        <p:nvSpPr>
          <p:cNvPr id="7" name="release-col3-title">
            <a:extLst xmlns:a="http://schemas.openxmlformats.org/drawingml/2006/main">
              <a:ext uri="{FF2B5EF4-FFF2-40B4-BE49-F238E27FC236}">
                <a16:creationId xmlns:a16="http://schemas.microsoft.com/office/drawing/2014/main" id="{C2AB89CA-9534-4912-951B-EEC4ED1A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71625"/>
            <a:ext cx="3333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run entry point</a:t>
            </a:r>
          </a:p>
        </p:txBody>
      </p:sp>
      <p:sp>
        <p:nvSpPr>
          <p:cNvPr id="8" name="release-col3-body">
            <a:extLst xmlns:a="http://schemas.openxmlformats.org/drawingml/2006/main">
              <a:ext uri="{FF2B5EF4-FFF2-40B4-BE49-F238E27FC236}">
                <a16:creationId xmlns:a16="http://schemas.microsoft.com/office/drawing/2014/main" id="{817BC3C1-B30A-44F4-99B3-4F56713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33337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run-spectre.sh
Select full/simple and Spectre/APS/CX/AX/MX/LX/VX. Full + CX is the default.</a:t>
            </a:r>
          </a:p>
        </p:txBody>
      </p:sp>
      <p:sp>
        <p:nvSpPr>
          <p:cNvPr id="9" name="release-callout">
            <a:extLst xmlns:a="http://schemas.openxmlformats.org/drawingml/2006/main">
              <a:ext uri="{FF2B5EF4-FFF2-40B4-BE49-F238E27FC236}">
                <a16:creationId xmlns:a16="http://schemas.microsoft.com/office/drawing/2014/main" id="{50FF6762-54E2-489B-BC21-B71EA599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2014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release-callout-text">
            <a:extLst xmlns:a="http://schemas.openxmlformats.org/drawingml/2006/main">
              <a:ext uri="{FF2B5EF4-FFF2-40B4-BE49-F238E27FC236}">
                <a16:creationId xmlns:a16="http://schemas.microsoft.com/office/drawing/2014/main" id="{92665073-AB01-4FF7-AABC-66D0E450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572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 wrapper decks · 0 Spectre errors · no private laboratory paths committed</a:t>
            </a:r>
          </a:p>
        </p:txBody>
      </p:sp>
    </p:spTree>
    <p:extLst>
      <p:ext uri="{BB962C8B-B14F-4D97-AF65-F5344CB8AC3E}">
        <p14:creationId xmlns:p14="http://schemas.microsoft.com/office/powerpoint/2010/main" val="333002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EA08D00A-ADFA-4B34-95B8-6A67DC70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3429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CONCLUSION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353735E-BE4C-46FB-AE9B-2302E50C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9906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geometry is the
release reference</a:t>
            </a:r>
          </a:p>
        </p:txBody>
      </p:sp>
      <p:sp>
        <p:nvSpPr>
          <p:cNvPr id="3" name="closing-line1">
            <a:extLst xmlns:a="http://schemas.openxmlformats.org/drawingml/2006/main">
              <a:ext uri="{FF2B5EF4-FFF2-40B4-BE49-F238E27FC236}">
                <a16:creationId xmlns:a16="http://schemas.microsoft.com/office/drawing/2014/main" id="{A0A66250-9B10-4DC6-AD01-01EF25DE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Nominal AC/DC/STB/noise/tran verified</a:t>
            </a:r>
          </a:p>
        </p:txBody>
      </p:sp>
      <p:sp>
        <p:nvSpPr>
          <p:cNvPr id="4" name="closing-line2">
            <a:extLst xmlns:a="http://schemas.openxmlformats.org/drawingml/2006/main">
              <a:ext uri="{FF2B5EF4-FFF2-40B4-BE49-F238E27FC236}">
                <a16:creationId xmlns:a16="http://schemas.microsoft.com/office/drawing/2014/main" id="{C6CE3F0F-2FDE-4052-B3CA-291ACD41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91125"/>
            <a:ext cx="723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Compact version retained for readable design review</a:t>
            </a:r>
          </a:p>
        </p:txBody>
      </p:sp>
      <p:sp>
        <p:nvSpPr>
          <p:cNvPr id="5" name="closing-line3">
            <a:extLst xmlns:a="http://schemas.openxmlformats.org/drawingml/2006/main">
              <a:ext uri="{FF2B5EF4-FFF2-40B4-BE49-F238E27FC236}">
                <a16:creationId xmlns:a16="http://schemas.microsoft.com/office/drawing/2014/main" id="{1589830B-E3F3-4E9F-986F-C2B9C8F9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876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sign-off step: rerun the 45-point PVT matrix with full geometry</a:t>
            </a:r>
          </a:p>
        </p:txBody>
      </p:sp>
    </p:spTree>
    <p:extLst>
      <p:ext uri="{BB962C8B-B14F-4D97-AF65-F5344CB8AC3E}">
        <p14:creationId xmlns:p14="http://schemas.microsoft.com/office/powerpoint/2010/main" val="651509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2026-07-12T03:50:17.5360000Z</dcterms:created>
  <dcterms:modified xsi:type="dcterms:W3CDTF">2026-07-12T03:50:17.5360000Z</dcterms:modified>
</coreProperties>
</file>